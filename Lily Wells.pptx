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5"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58"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6/24/2026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45519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6/24/2026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6868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6/24/2026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44982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6/24/2026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68164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6/24/2026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63327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6/24/2026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62353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6/24/2026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35695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6/24/2026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38177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6/24/2026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5001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6/24/2026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48042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6/24/2026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2487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6/24/2026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096642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pp.powerbi.com/links/Z09W1JN7ct?ctid=bbce5c37-f181-4d0c-9310-7f877336e1cf&amp;pbi_source=linkShare"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ithub.com/wellslily223/Capstone_3"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FEEACE9A-8482-F4B8-E5FA-87BDE1D4AC62}"/>
              </a:ext>
            </a:extLst>
          </p:cNvPr>
          <p:cNvPicPr>
            <a:picLocks noChangeAspect="1"/>
          </p:cNvPicPr>
          <p:nvPr/>
        </p:nvPicPr>
        <p:blipFill>
          <a:blip r:embed="rId2"/>
          <a:srcRect t="6108" b="1382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1"/>
            <a:ext cx="12191999" cy="137160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CA4572CC-E033-1CC7-50D2-F60435E8B7FF}"/>
              </a:ext>
            </a:extLst>
          </p:cNvPr>
          <p:cNvSpPr>
            <a:spLocks noGrp="1"/>
          </p:cNvSpPr>
          <p:nvPr>
            <p:ph type="ctrTitle"/>
          </p:nvPr>
        </p:nvSpPr>
        <p:spPr>
          <a:xfrm>
            <a:off x="320040" y="5715007"/>
            <a:ext cx="7983070" cy="958655"/>
          </a:xfrm>
          <a:ln>
            <a:noFill/>
          </a:ln>
        </p:spPr>
        <p:txBody>
          <a:bodyPr anchor="ctr">
            <a:normAutofit/>
          </a:bodyPr>
          <a:lstStyle/>
          <a:p>
            <a:r>
              <a:rPr lang="en-US" sz="3600" dirty="0"/>
              <a:t>Emporium South Region Analysis</a:t>
            </a:r>
          </a:p>
        </p:txBody>
      </p:sp>
      <p:sp>
        <p:nvSpPr>
          <p:cNvPr id="3" name="Subtitle 2">
            <a:extLst>
              <a:ext uri="{FF2B5EF4-FFF2-40B4-BE49-F238E27FC236}">
                <a16:creationId xmlns:a16="http://schemas.microsoft.com/office/drawing/2014/main" id="{2FA00CFD-FA07-EE2A-6DBB-B8F208718B6C}"/>
              </a:ext>
            </a:extLst>
          </p:cNvPr>
          <p:cNvSpPr>
            <a:spLocks noGrp="1"/>
          </p:cNvSpPr>
          <p:nvPr>
            <p:ph type="subTitle" idx="1"/>
          </p:nvPr>
        </p:nvSpPr>
        <p:spPr>
          <a:xfrm>
            <a:off x="8303110" y="5715007"/>
            <a:ext cx="3633533" cy="958655"/>
          </a:xfrm>
        </p:spPr>
        <p:txBody>
          <a:bodyPr anchor="ctr">
            <a:normAutofit/>
          </a:bodyPr>
          <a:lstStyle/>
          <a:p>
            <a:pPr algn="r"/>
            <a:r>
              <a:rPr lang="en-US" sz="1800" dirty="0"/>
              <a:t>By Lily Wells</a:t>
            </a:r>
          </a:p>
        </p:txBody>
      </p:sp>
    </p:spTree>
    <p:extLst>
      <p:ext uri="{BB962C8B-B14F-4D97-AF65-F5344CB8AC3E}">
        <p14:creationId xmlns:p14="http://schemas.microsoft.com/office/powerpoint/2010/main" val="38603452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F68D7-1300-86A9-252E-4FB438CC8A06}"/>
              </a:ext>
            </a:extLst>
          </p:cNvPr>
          <p:cNvSpPr>
            <a:spLocks noGrp="1"/>
          </p:cNvSpPr>
          <p:nvPr>
            <p:ph type="title"/>
          </p:nvPr>
        </p:nvSpPr>
        <p:spPr/>
        <p:txBody>
          <a:bodyPr/>
          <a:lstStyle/>
          <a:p>
            <a:r>
              <a:rPr lang="en-US" dirty="0"/>
              <a:t>What will I be analyzing?</a:t>
            </a:r>
          </a:p>
        </p:txBody>
      </p:sp>
      <p:sp>
        <p:nvSpPr>
          <p:cNvPr id="3" name="Content Placeholder 2">
            <a:extLst>
              <a:ext uri="{FF2B5EF4-FFF2-40B4-BE49-F238E27FC236}">
                <a16:creationId xmlns:a16="http://schemas.microsoft.com/office/drawing/2014/main" id="{B71A0A9B-07A9-2C8A-EF31-029039888AE0}"/>
              </a:ext>
            </a:extLst>
          </p:cNvPr>
          <p:cNvSpPr>
            <a:spLocks noGrp="1"/>
          </p:cNvSpPr>
          <p:nvPr>
            <p:ph idx="1"/>
          </p:nvPr>
        </p:nvSpPr>
        <p:spPr/>
        <p:txBody>
          <a:bodyPr/>
          <a:lstStyle/>
          <a:p>
            <a:pPr marL="0" indent="0">
              <a:buNone/>
            </a:pPr>
            <a:r>
              <a:rPr lang="en-US" dirty="0"/>
              <a:t>In this report, I will analyze the following visualization prompts using Power BI:</a:t>
            </a:r>
          </a:p>
          <a:p>
            <a:r>
              <a:rPr lang="en-US" dirty="0"/>
              <a:t>The full period of sales trends covered by the data.</a:t>
            </a:r>
          </a:p>
          <a:p>
            <a:r>
              <a:rPr lang="en-US" dirty="0"/>
              <a:t>Sales performance by category.</a:t>
            </a:r>
          </a:p>
          <a:p>
            <a:r>
              <a:rPr lang="en-US" dirty="0"/>
              <a:t>Relative sales for each state in the region.</a:t>
            </a:r>
          </a:p>
          <a:p>
            <a:r>
              <a:rPr lang="en-US" dirty="0"/>
              <a:t>Top selling books (excluding textbooks) for my region.</a:t>
            </a:r>
          </a:p>
        </p:txBody>
      </p:sp>
    </p:spTree>
    <p:extLst>
      <p:ext uri="{BB962C8B-B14F-4D97-AF65-F5344CB8AC3E}">
        <p14:creationId xmlns:p14="http://schemas.microsoft.com/office/powerpoint/2010/main" val="2981605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625E3-05F9-8618-BFBF-9B2A843C59B9}"/>
              </a:ext>
            </a:extLst>
          </p:cNvPr>
          <p:cNvSpPr>
            <a:spLocks noGrp="1"/>
          </p:cNvSpPr>
          <p:nvPr>
            <p:ph type="title"/>
          </p:nvPr>
        </p:nvSpPr>
        <p:spPr>
          <a:xfrm>
            <a:off x="700635" y="914400"/>
            <a:ext cx="10691265" cy="347133"/>
          </a:xfrm>
        </p:spPr>
        <p:txBody>
          <a:bodyPr>
            <a:normAutofit fontScale="90000"/>
          </a:bodyPr>
          <a:lstStyle/>
          <a:p>
            <a:r>
              <a:rPr lang="en-US" sz="1800" dirty="0"/>
              <a:t>Sum of sales amount By transaction date</a:t>
            </a:r>
          </a:p>
        </p:txBody>
      </p:sp>
      <p:sp>
        <p:nvSpPr>
          <p:cNvPr id="18" name="TextBox 17">
            <a:extLst>
              <a:ext uri="{FF2B5EF4-FFF2-40B4-BE49-F238E27FC236}">
                <a16:creationId xmlns:a16="http://schemas.microsoft.com/office/drawing/2014/main" id="{4BF35786-FC90-C00E-AF2D-B57458548AF1}"/>
              </a:ext>
            </a:extLst>
          </p:cNvPr>
          <p:cNvSpPr txBox="1"/>
          <p:nvPr/>
        </p:nvSpPr>
        <p:spPr>
          <a:xfrm>
            <a:off x="3220720" y="5297269"/>
            <a:ext cx="7548880" cy="646331"/>
          </a:xfrm>
          <a:prstGeom prst="rect">
            <a:avLst/>
          </a:prstGeom>
          <a:noFill/>
        </p:spPr>
        <p:txBody>
          <a:bodyPr wrap="square" rtlCol="0">
            <a:spAutoFit/>
          </a:bodyPr>
          <a:lstStyle/>
          <a:p>
            <a:r>
              <a:rPr lang="en-US" dirty="0"/>
              <a:t>The highest point in our data takes place on October 30</a:t>
            </a:r>
            <a:r>
              <a:rPr lang="en-US" baseline="30000" dirty="0"/>
              <a:t>th</a:t>
            </a:r>
            <a:r>
              <a:rPr lang="en-US" dirty="0"/>
              <a:t>, 2025.</a:t>
            </a:r>
          </a:p>
          <a:p>
            <a:r>
              <a:rPr lang="en-US" dirty="0"/>
              <a:t>The lowest point in our data takes place on March 23</a:t>
            </a:r>
            <a:r>
              <a:rPr lang="en-US" baseline="30000" dirty="0"/>
              <a:t>rd</a:t>
            </a:r>
            <a:r>
              <a:rPr lang="en-US" dirty="0"/>
              <a:t>, 2022.</a:t>
            </a:r>
          </a:p>
        </p:txBody>
      </p:sp>
      <p:pic>
        <p:nvPicPr>
          <p:cNvPr id="22" name="Content Placeholder 21">
            <a:extLst>
              <a:ext uri="{FF2B5EF4-FFF2-40B4-BE49-F238E27FC236}">
                <a16:creationId xmlns:a16="http://schemas.microsoft.com/office/drawing/2014/main" id="{D2D6BC94-B28C-FF0C-6CD3-84833B8CB868}"/>
              </a:ext>
            </a:extLst>
          </p:cNvPr>
          <p:cNvPicPr>
            <a:picLocks noGrp="1" noChangeAspect="1"/>
          </p:cNvPicPr>
          <p:nvPr>
            <p:ph idx="1"/>
          </p:nvPr>
        </p:nvPicPr>
        <p:blipFill>
          <a:blip r:embed="rId2"/>
          <a:stretch>
            <a:fillRect/>
          </a:stretch>
        </p:blipFill>
        <p:spPr>
          <a:xfrm>
            <a:off x="2748405" y="1409326"/>
            <a:ext cx="6595724" cy="3740150"/>
          </a:xfrm>
          <a:prstGeom prst="rect">
            <a:avLst/>
          </a:prstGeom>
        </p:spPr>
      </p:pic>
    </p:spTree>
    <p:extLst>
      <p:ext uri="{BB962C8B-B14F-4D97-AF65-F5344CB8AC3E}">
        <p14:creationId xmlns:p14="http://schemas.microsoft.com/office/powerpoint/2010/main" val="541648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8EA6-751A-55FB-01C0-F1424301AE2C}"/>
              </a:ext>
            </a:extLst>
          </p:cNvPr>
          <p:cNvSpPr>
            <a:spLocks noGrp="1"/>
          </p:cNvSpPr>
          <p:nvPr>
            <p:ph type="title"/>
          </p:nvPr>
        </p:nvSpPr>
        <p:spPr>
          <a:xfrm>
            <a:off x="700635" y="914400"/>
            <a:ext cx="10691265" cy="330200"/>
          </a:xfrm>
        </p:spPr>
        <p:txBody>
          <a:bodyPr>
            <a:normAutofit fontScale="90000"/>
          </a:bodyPr>
          <a:lstStyle/>
          <a:p>
            <a:r>
              <a:rPr lang="en-US" sz="1800" dirty="0"/>
              <a:t>Count of sale amount by category</a:t>
            </a:r>
          </a:p>
        </p:txBody>
      </p:sp>
      <p:sp>
        <p:nvSpPr>
          <p:cNvPr id="12" name="TextBox 11">
            <a:extLst>
              <a:ext uri="{FF2B5EF4-FFF2-40B4-BE49-F238E27FC236}">
                <a16:creationId xmlns:a16="http://schemas.microsoft.com/office/drawing/2014/main" id="{3F9D67AD-D6FF-DF9C-1363-E8F9AECD506B}"/>
              </a:ext>
            </a:extLst>
          </p:cNvPr>
          <p:cNvSpPr txBox="1"/>
          <p:nvPr/>
        </p:nvSpPr>
        <p:spPr>
          <a:xfrm>
            <a:off x="2777445" y="5222662"/>
            <a:ext cx="7048468" cy="646331"/>
          </a:xfrm>
          <a:prstGeom prst="rect">
            <a:avLst/>
          </a:prstGeom>
          <a:noFill/>
        </p:spPr>
        <p:txBody>
          <a:bodyPr wrap="none" rtlCol="0">
            <a:spAutoFit/>
          </a:bodyPr>
          <a:lstStyle/>
          <a:p>
            <a:r>
              <a:rPr lang="en-US" dirty="0"/>
              <a:t>The category with the highest sales amount is Stationary and Supplies. </a:t>
            </a:r>
          </a:p>
          <a:p>
            <a:r>
              <a:rPr lang="en-US" dirty="0"/>
              <a:t>The category with the lowest sale amount is Books (general).</a:t>
            </a:r>
          </a:p>
        </p:txBody>
      </p:sp>
      <p:pic>
        <p:nvPicPr>
          <p:cNvPr id="16" name="Content Placeholder 15">
            <a:extLst>
              <a:ext uri="{FF2B5EF4-FFF2-40B4-BE49-F238E27FC236}">
                <a16:creationId xmlns:a16="http://schemas.microsoft.com/office/drawing/2014/main" id="{0AD9A562-2673-B879-6D23-BAFF4E7D67DF}"/>
              </a:ext>
            </a:extLst>
          </p:cNvPr>
          <p:cNvPicPr>
            <a:picLocks noGrp="1" noChangeAspect="1"/>
          </p:cNvPicPr>
          <p:nvPr>
            <p:ph idx="1"/>
          </p:nvPr>
        </p:nvPicPr>
        <p:blipFill>
          <a:blip r:embed="rId2"/>
          <a:stretch>
            <a:fillRect/>
          </a:stretch>
        </p:blipFill>
        <p:spPr>
          <a:xfrm>
            <a:off x="2777445" y="1482512"/>
            <a:ext cx="6692899" cy="3740150"/>
          </a:xfrm>
          <a:prstGeom prst="rect">
            <a:avLst/>
          </a:prstGeom>
        </p:spPr>
      </p:pic>
    </p:spTree>
    <p:extLst>
      <p:ext uri="{BB962C8B-B14F-4D97-AF65-F5344CB8AC3E}">
        <p14:creationId xmlns:p14="http://schemas.microsoft.com/office/powerpoint/2010/main" val="1610270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21DB0-0A41-FE8E-6713-E2FF03825C22}"/>
              </a:ext>
            </a:extLst>
          </p:cNvPr>
          <p:cNvSpPr>
            <a:spLocks noGrp="1"/>
          </p:cNvSpPr>
          <p:nvPr>
            <p:ph type="title"/>
          </p:nvPr>
        </p:nvSpPr>
        <p:spPr>
          <a:xfrm>
            <a:off x="700635" y="914400"/>
            <a:ext cx="10691265" cy="330200"/>
          </a:xfrm>
        </p:spPr>
        <p:txBody>
          <a:bodyPr>
            <a:normAutofit fontScale="90000"/>
          </a:bodyPr>
          <a:lstStyle/>
          <a:p>
            <a:r>
              <a:rPr lang="en-US" sz="1800" dirty="0"/>
              <a:t>Sum of sale amount by state</a:t>
            </a:r>
          </a:p>
        </p:txBody>
      </p:sp>
      <p:pic>
        <p:nvPicPr>
          <p:cNvPr id="5" name="Content Placeholder 4">
            <a:extLst>
              <a:ext uri="{FF2B5EF4-FFF2-40B4-BE49-F238E27FC236}">
                <a16:creationId xmlns:a16="http://schemas.microsoft.com/office/drawing/2014/main" id="{139CFADD-23EA-B400-0E6E-1FE93AA2196D}"/>
              </a:ext>
            </a:extLst>
          </p:cNvPr>
          <p:cNvPicPr>
            <a:picLocks noGrp="1" noChangeAspect="1"/>
          </p:cNvPicPr>
          <p:nvPr>
            <p:ph idx="1"/>
          </p:nvPr>
        </p:nvPicPr>
        <p:blipFill>
          <a:blip r:embed="rId2"/>
          <a:stretch>
            <a:fillRect/>
          </a:stretch>
        </p:blipFill>
        <p:spPr>
          <a:xfrm>
            <a:off x="2730814" y="1244600"/>
            <a:ext cx="6730371" cy="3740150"/>
          </a:xfrm>
          <a:prstGeom prst="rect">
            <a:avLst/>
          </a:prstGeom>
        </p:spPr>
      </p:pic>
      <p:sp>
        <p:nvSpPr>
          <p:cNvPr id="7" name="TextBox 6">
            <a:extLst>
              <a:ext uri="{FF2B5EF4-FFF2-40B4-BE49-F238E27FC236}">
                <a16:creationId xmlns:a16="http://schemas.microsoft.com/office/drawing/2014/main" id="{96DF4179-D60D-B31E-EAD7-182E56A685D9}"/>
              </a:ext>
            </a:extLst>
          </p:cNvPr>
          <p:cNvSpPr txBox="1"/>
          <p:nvPr/>
        </p:nvSpPr>
        <p:spPr>
          <a:xfrm>
            <a:off x="1879600" y="5244068"/>
            <a:ext cx="8593667" cy="923330"/>
          </a:xfrm>
          <a:prstGeom prst="rect">
            <a:avLst/>
          </a:prstGeom>
          <a:noFill/>
        </p:spPr>
        <p:txBody>
          <a:bodyPr wrap="square" rtlCol="0">
            <a:spAutoFit/>
          </a:bodyPr>
          <a:lstStyle/>
          <a:p>
            <a:r>
              <a:rPr lang="en-US" dirty="0"/>
              <a:t>The largest sale amount by state is Maryland with a total of 11.45M. </a:t>
            </a:r>
          </a:p>
          <a:p>
            <a:r>
              <a:rPr lang="en-US" dirty="0"/>
              <a:t>The smallest sale amount by state is Massachusetts with a total of 0.65M.</a:t>
            </a:r>
          </a:p>
          <a:p>
            <a:endParaRPr lang="en-US" dirty="0"/>
          </a:p>
        </p:txBody>
      </p:sp>
    </p:spTree>
    <p:extLst>
      <p:ext uri="{BB962C8B-B14F-4D97-AF65-F5344CB8AC3E}">
        <p14:creationId xmlns:p14="http://schemas.microsoft.com/office/powerpoint/2010/main" val="2536953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F94D1-D83B-84DC-3FA0-CF44343DA748}"/>
              </a:ext>
            </a:extLst>
          </p:cNvPr>
          <p:cNvSpPr>
            <a:spLocks noGrp="1"/>
          </p:cNvSpPr>
          <p:nvPr>
            <p:ph type="title"/>
          </p:nvPr>
        </p:nvSpPr>
        <p:spPr>
          <a:xfrm>
            <a:off x="700635" y="914400"/>
            <a:ext cx="10691265" cy="338667"/>
          </a:xfrm>
        </p:spPr>
        <p:txBody>
          <a:bodyPr>
            <a:normAutofit fontScale="90000"/>
          </a:bodyPr>
          <a:lstStyle/>
          <a:p>
            <a:r>
              <a:rPr lang="en-US" sz="2000" dirty="0"/>
              <a:t>Top selling books (excluding textbooks)  </a:t>
            </a:r>
            <a:br>
              <a:rPr lang="en-US" dirty="0"/>
            </a:br>
            <a:endParaRPr lang="en-US" dirty="0"/>
          </a:p>
        </p:txBody>
      </p:sp>
      <p:pic>
        <p:nvPicPr>
          <p:cNvPr id="11" name="Content Placeholder 10">
            <a:extLst>
              <a:ext uri="{FF2B5EF4-FFF2-40B4-BE49-F238E27FC236}">
                <a16:creationId xmlns:a16="http://schemas.microsoft.com/office/drawing/2014/main" id="{8EE82EFB-B86A-052A-0313-5FC624CCB9BD}"/>
              </a:ext>
            </a:extLst>
          </p:cNvPr>
          <p:cNvPicPr>
            <a:picLocks noGrp="1" noChangeAspect="1"/>
          </p:cNvPicPr>
          <p:nvPr>
            <p:ph idx="1"/>
          </p:nvPr>
        </p:nvPicPr>
        <p:blipFill>
          <a:blip r:embed="rId2"/>
          <a:stretch>
            <a:fillRect/>
          </a:stretch>
        </p:blipFill>
        <p:spPr>
          <a:xfrm>
            <a:off x="3617828" y="1348740"/>
            <a:ext cx="4856877" cy="3740150"/>
          </a:xfrm>
          <a:prstGeom prst="rect">
            <a:avLst/>
          </a:prstGeom>
        </p:spPr>
      </p:pic>
      <p:sp>
        <p:nvSpPr>
          <p:cNvPr id="12" name="TextBox 11">
            <a:extLst>
              <a:ext uri="{FF2B5EF4-FFF2-40B4-BE49-F238E27FC236}">
                <a16:creationId xmlns:a16="http://schemas.microsoft.com/office/drawing/2014/main" id="{648B9652-E7AB-1823-7028-60822EAE4857}"/>
              </a:ext>
            </a:extLst>
          </p:cNvPr>
          <p:cNvSpPr txBox="1"/>
          <p:nvPr/>
        </p:nvSpPr>
        <p:spPr>
          <a:xfrm>
            <a:off x="700635" y="5007610"/>
            <a:ext cx="5395365" cy="1200329"/>
          </a:xfrm>
          <a:prstGeom prst="rect">
            <a:avLst/>
          </a:prstGeom>
          <a:noFill/>
        </p:spPr>
        <p:txBody>
          <a:bodyPr wrap="square" rtlCol="0">
            <a:spAutoFit/>
          </a:bodyPr>
          <a:lstStyle/>
          <a:p>
            <a:r>
              <a:rPr lang="en-US" dirty="0"/>
              <a:t>Without taking textbooks into accountability and only measuring authored books (novels, chapter books, </a:t>
            </a:r>
            <a:r>
              <a:rPr lang="en-US" dirty="0" err="1"/>
              <a:t>etc</a:t>
            </a:r>
            <a:r>
              <a:rPr lang="en-US" dirty="0"/>
              <a:t>), the titles with the highest sales amounts are Collapse and Life of Pi with an amount of 29.30.</a:t>
            </a:r>
          </a:p>
        </p:txBody>
      </p:sp>
      <p:sp>
        <p:nvSpPr>
          <p:cNvPr id="13" name="TextBox 12">
            <a:extLst>
              <a:ext uri="{FF2B5EF4-FFF2-40B4-BE49-F238E27FC236}">
                <a16:creationId xmlns:a16="http://schemas.microsoft.com/office/drawing/2014/main" id="{4EBDFBF8-4E02-32FD-1F2D-E080838EC7B7}"/>
              </a:ext>
            </a:extLst>
          </p:cNvPr>
          <p:cNvSpPr txBox="1"/>
          <p:nvPr/>
        </p:nvSpPr>
        <p:spPr>
          <a:xfrm>
            <a:off x="6096000" y="5006340"/>
            <a:ext cx="5232400" cy="923330"/>
          </a:xfrm>
          <a:prstGeom prst="rect">
            <a:avLst/>
          </a:prstGeom>
          <a:noFill/>
        </p:spPr>
        <p:txBody>
          <a:bodyPr wrap="square" rtlCol="0">
            <a:spAutoFit/>
          </a:bodyPr>
          <a:lstStyle/>
          <a:p>
            <a:r>
              <a:rPr lang="en-US" dirty="0"/>
              <a:t>According to the data list, the lowest selling books are Born a Crime and Harry Potter and the Prisoner of Azkaban at a sale amount of 12.12.</a:t>
            </a:r>
          </a:p>
        </p:txBody>
      </p:sp>
    </p:spTree>
    <p:extLst>
      <p:ext uri="{BB962C8B-B14F-4D97-AF65-F5344CB8AC3E}">
        <p14:creationId xmlns:p14="http://schemas.microsoft.com/office/powerpoint/2010/main" val="65239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CF346-6BBE-B162-4AC1-4A4821E0DA7B}"/>
              </a:ext>
            </a:extLst>
          </p:cNvPr>
          <p:cNvSpPr>
            <a:spLocks noGrp="1"/>
          </p:cNvSpPr>
          <p:nvPr>
            <p:ph type="title"/>
          </p:nvPr>
        </p:nvSpPr>
        <p:spPr/>
        <p:txBody>
          <a:bodyPr>
            <a:normAutofit/>
          </a:bodyPr>
          <a:lstStyle/>
          <a:p>
            <a:pPr algn="ctr"/>
            <a:r>
              <a:rPr lang="en-US" sz="2800" dirty="0"/>
              <a:t>My recommendation for the next quarter</a:t>
            </a:r>
          </a:p>
        </p:txBody>
      </p:sp>
      <p:sp>
        <p:nvSpPr>
          <p:cNvPr id="3" name="Content Placeholder 2">
            <a:extLst>
              <a:ext uri="{FF2B5EF4-FFF2-40B4-BE49-F238E27FC236}">
                <a16:creationId xmlns:a16="http://schemas.microsoft.com/office/drawing/2014/main" id="{7914E6D9-09FD-EF96-1455-2378BA55AA36}"/>
              </a:ext>
            </a:extLst>
          </p:cNvPr>
          <p:cNvSpPr>
            <a:spLocks noGrp="1"/>
          </p:cNvSpPr>
          <p:nvPr>
            <p:ph idx="1"/>
          </p:nvPr>
        </p:nvSpPr>
        <p:spPr/>
        <p:txBody>
          <a:bodyPr/>
          <a:lstStyle/>
          <a:p>
            <a:r>
              <a:rPr lang="en-US" dirty="0"/>
              <a:t>I believe, based on the given data, we should focus our efforts on the highest performing book sales.</a:t>
            </a:r>
          </a:p>
          <a:p>
            <a:r>
              <a:rPr lang="en-US" dirty="0"/>
              <a:t>In order to keep our stores performing well, I believe we should take customer input and see what exactly makes certain books so popular to read – what genres and specific books does the public seem to enjoy? What is it about that genre that is so appealing? What could we do to make our selections more popular?</a:t>
            </a:r>
          </a:p>
        </p:txBody>
      </p:sp>
    </p:spTree>
    <p:extLst>
      <p:ext uri="{BB962C8B-B14F-4D97-AF65-F5344CB8AC3E}">
        <p14:creationId xmlns:p14="http://schemas.microsoft.com/office/powerpoint/2010/main" val="6205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9A09A-971D-8CCD-2D59-3181E79572B3}"/>
              </a:ext>
            </a:extLst>
          </p:cNvPr>
          <p:cNvSpPr>
            <a:spLocks noGrp="1"/>
          </p:cNvSpPr>
          <p:nvPr>
            <p:ph type="title"/>
          </p:nvPr>
        </p:nvSpPr>
        <p:spPr/>
        <p:txBody>
          <a:bodyPr>
            <a:normAutofit/>
          </a:bodyPr>
          <a:lstStyle/>
          <a:p>
            <a:pPr algn="ctr"/>
            <a:r>
              <a:rPr lang="en-US" sz="2800" dirty="0"/>
              <a:t>Power BI Service Report</a:t>
            </a:r>
          </a:p>
        </p:txBody>
      </p:sp>
      <p:sp>
        <p:nvSpPr>
          <p:cNvPr id="3" name="Content Placeholder 2">
            <a:extLst>
              <a:ext uri="{FF2B5EF4-FFF2-40B4-BE49-F238E27FC236}">
                <a16:creationId xmlns:a16="http://schemas.microsoft.com/office/drawing/2014/main" id="{9D063422-ED05-46FE-630E-726AE7B77EBC}"/>
              </a:ext>
            </a:extLst>
          </p:cNvPr>
          <p:cNvSpPr>
            <a:spLocks noGrp="1"/>
          </p:cNvSpPr>
          <p:nvPr>
            <p:ph idx="1"/>
          </p:nvPr>
        </p:nvSpPr>
        <p:spPr/>
        <p:txBody>
          <a:bodyPr/>
          <a:lstStyle/>
          <a:p>
            <a:r>
              <a:rPr lang="en-US" u="sng" dirty="0">
                <a:hlinkClick r:id="rId2"/>
              </a:rPr>
              <a:t>https://app.powerbi.com/links/Z09W1JN7ct?ctid=bbce5c37-f181-4d0c-9310-7f877336e1cf&amp;pbi_source=linkShare</a:t>
            </a:r>
            <a:r>
              <a:rPr lang="en-US" u="sng" dirty="0"/>
              <a:t> </a:t>
            </a:r>
            <a:endParaRPr lang="en-US" dirty="0"/>
          </a:p>
        </p:txBody>
      </p:sp>
      <p:pic>
        <p:nvPicPr>
          <p:cNvPr id="5" name="Picture 4">
            <a:extLst>
              <a:ext uri="{FF2B5EF4-FFF2-40B4-BE49-F238E27FC236}">
                <a16:creationId xmlns:a16="http://schemas.microsoft.com/office/drawing/2014/main" id="{9EA39AA5-6E57-616F-574D-CC8E9604BC09}"/>
              </a:ext>
            </a:extLst>
          </p:cNvPr>
          <p:cNvPicPr>
            <a:picLocks noChangeAspect="1"/>
          </p:cNvPicPr>
          <p:nvPr/>
        </p:nvPicPr>
        <p:blipFill>
          <a:blip r:embed="rId3"/>
          <a:stretch>
            <a:fillRect/>
          </a:stretch>
        </p:blipFill>
        <p:spPr>
          <a:xfrm>
            <a:off x="4219313" y="3224184"/>
            <a:ext cx="3753374" cy="409632"/>
          </a:xfrm>
          <a:prstGeom prst="rect">
            <a:avLst/>
          </a:prstGeom>
        </p:spPr>
      </p:pic>
      <p:pic>
        <p:nvPicPr>
          <p:cNvPr id="7" name="Picture 6">
            <a:extLst>
              <a:ext uri="{FF2B5EF4-FFF2-40B4-BE49-F238E27FC236}">
                <a16:creationId xmlns:a16="http://schemas.microsoft.com/office/drawing/2014/main" id="{48980BB8-7D52-2C03-64AF-8F2B4067B66C}"/>
              </a:ext>
            </a:extLst>
          </p:cNvPr>
          <p:cNvPicPr>
            <a:picLocks noChangeAspect="1"/>
          </p:cNvPicPr>
          <p:nvPr/>
        </p:nvPicPr>
        <p:blipFill>
          <a:blip r:embed="rId4"/>
          <a:stretch>
            <a:fillRect/>
          </a:stretch>
        </p:blipFill>
        <p:spPr>
          <a:xfrm>
            <a:off x="5038577" y="3708401"/>
            <a:ext cx="2114845" cy="1981477"/>
          </a:xfrm>
          <a:prstGeom prst="rect">
            <a:avLst/>
          </a:prstGeom>
        </p:spPr>
      </p:pic>
    </p:spTree>
    <p:extLst>
      <p:ext uri="{BB962C8B-B14F-4D97-AF65-F5344CB8AC3E}">
        <p14:creationId xmlns:p14="http://schemas.microsoft.com/office/powerpoint/2010/main" val="3220046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1CA93-9CAF-9F07-F6D4-1C1B3003C18B}"/>
              </a:ext>
            </a:extLst>
          </p:cNvPr>
          <p:cNvSpPr>
            <a:spLocks noGrp="1"/>
          </p:cNvSpPr>
          <p:nvPr>
            <p:ph type="title"/>
          </p:nvPr>
        </p:nvSpPr>
        <p:spPr/>
        <p:txBody>
          <a:bodyPr>
            <a:normAutofit/>
          </a:bodyPr>
          <a:lstStyle/>
          <a:p>
            <a:pPr algn="ctr"/>
            <a:r>
              <a:rPr lang="en-US" sz="2000" dirty="0" err="1"/>
              <a:t>Github</a:t>
            </a:r>
            <a:r>
              <a:rPr lang="en-US" sz="2000" dirty="0"/>
              <a:t> repository</a:t>
            </a:r>
          </a:p>
        </p:txBody>
      </p:sp>
      <p:sp>
        <p:nvSpPr>
          <p:cNvPr id="3" name="Content Placeholder 2">
            <a:extLst>
              <a:ext uri="{FF2B5EF4-FFF2-40B4-BE49-F238E27FC236}">
                <a16:creationId xmlns:a16="http://schemas.microsoft.com/office/drawing/2014/main" id="{4C871DBC-F079-CFCC-C911-F46FD9225FC7}"/>
              </a:ext>
            </a:extLst>
          </p:cNvPr>
          <p:cNvSpPr>
            <a:spLocks noGrp="1"/>
          </p:cNvSpPr>
          <p:nvPr>
            <p:ph idx="1"/>
          </p:nvPr>
        </p:nvSpPr>
        <p:spPr>
          <a:xfrm>
            <a:off x="750367" y="1815592"/>
            <a:ext cx="10691265" cy="3739896"/>
          </a:xfrm>
        </p:spPr>
        <p:txBody>
          <a:bodyPr/>
          <a:lstStyle/>
          <a:p>
            <a:r>
              <a:rPr lang="en-US" dirty="0">
                <a:hlinkClick r:id="rId2"/>
              </a:rPr>
              <a:t>https://github.com/wellslily223/Capstone_3</a:t>
            </a:r>
            <a:r>
              <a:rPr lang="en-US" dirty="0"/>
              <a:t> </a:t>
            </a:r>
          </a:p>
          <a:p>
            <a:pPr marL="0" indent="0">
              <a:buNone/>
            </a:pPr>
            <a:r>
              <a:rPr lang="en-US" dirty="0"/>
              <a:t>Please feel free to check it if you have any further questions! </a:t>
            </a:r>
          </a:p>
        </p:txBody>
      </p:sp>
      <p:pic>
        <p:nvPicPr>
          <p:cNvPr id="7" name="Picture 6">
            <a:extLst>
              <a:ext uri="{FF2B5EF4-FFF2-40B4-BE49-F238E27FC236}">
                <a16:creationId xmlns:a16="http://schemas.microsoft.com/office/drawing/2014/main" id="{36BAEE6B-4AA5-5278-BE7E-B9ABC6A6353D}"/>
              </a:ext>
            </a:extLst>
          </p:cNvPr>
          <p:cNvPicPr>
            <a:picLocks noChangeAspect="1"/>
          </p:cNvPicPr>
          <p:nvPr/>
        </p:nvPicPr>
        <p:blipFill>
          <a:blip r:embed="rId3"/>
          <a:stretch>
            <a:fillRect/>
          </a:stretch>
        </p:blipFill>
        <p:spPr>
          <a:xfrm>
            <a:off x="3435570" y="2788278"/>
            <a:ext cx="4854990" cy="3226442"/>
          </a:xfrm>
          <a:prstGeom prst="rect">
            <a:avLst/>
          </a:prstGeom>
        </p:spPr>
      </p:pic>
    </p:spTree>
    <p:extLst>
      <p:ext uri="{BB962C8B-B14F-4D97-AF65-F5344CB8AC3E}">
        <p14:creationId xmlns:p14="http://schemas.microsoft.com/office/powerpoint/2010/main" val="1919489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32BDA-1CD6-73BE-E461-88D20E349F5E}"/>
              </a:ext>
            </a:extLst>
          </p:cNvPr>
          <p:cNvSpPr>
            <a:spLocks noGrp="1"/>
          </p:cNvSpPr>
          <p:nvPr>
            <p:ph type="title"/>
          </p:nvPr>
        </p:nvSpPr>
        <p:spPr>
          <a:xfrm>
            <a:off x="750367" y="2540000"/>
            <a:ext cx="10691265" cy="1307592"/>
          </a:xfrm>
        </p:spPr>
        <p:txBody>
          <a:bodyPr/>
          <a:lstStyle/>
          <a:p>
            <a:pPr algn="ctr"/>
            <a:r>
              <a:rPr lang="en-US" dirty="0"/>
              <a:t>Thank you!</a:t>
            </a:r>
          </a:p>
        </p:txBody>
      </p:sp>
      <p:sp>
        <p:nvSpPr>
          <p:cNvPr id="4" name="TextBox 3">
            <a:extLst>
              <a:ext uri="{FF2B5EF4-FFF2-40B4-BE49-F238E27FC236}">
                <a16:creationId xmlns:a16="http://schemas.microsoft.com/office/drawing/2014/main" id="{2110A49C-1A96-A556-2340-505976B066A8}"/>
              </a:ext>
            </a:extLst>
          </p:cNvPr>
          <p:cNvSpPr txBox="1"/>
          <p:nvPr/>
        </p:nvSpPr>
        <p:spPr>
          <a:xfrm>
            <a:off x="2218266" y="3674534"/>
            <a:ext cx="9973734" cy="369332"/>
          </a:xfrm>
          <a:prstGeom prst="rect">
            <a:avLst/>
          </a:prstGeom>
          <a:noFill/>
        </p:spPr>
        <p:txBody>
          <a:bodyPr wrap="square" rtlCol="0">
            <a:spAutoFit/>
          </a:bodyPr>
          <a:lstStyle/>
          <a:p>
            <a:r>
              <a:rPr lang="en-US" dirty="0"/>
              <a:t>I appreciate your time, patience and attention. Thank you for listening!</a:t>
            </a:r>
          </a:p>
        </p:txBody>
      </p:sp>
    </p:spTree>
    <p:extLst>
      <p:ext uri="{BB962C8B-B14F-4D97-AF65-F5344CB8AC3E}">
        <p14:creationId xmlns:p14="http://schemas.microsoft.com/office/powerpoint/2010/main" val="386940827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2540</TotalTime>
  <Words>394</Words>
  <Application>Microsoft Office PowerPoint</Application>
  <PresentationFormat>Widescreen</PresentationFormat>
  <Paragraphs>30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Calisto MT</vt:lpstr>
      <vt:lpstr>Univers Condensed</vt:lpstr>
      <vt:lpstr>ChronicleVTI</vt:lpstr>
      <vt:lpstr>Emporium South Region Analysis</vt:lpstr>
      <vt:lpstr>What will I be analyzing?</vt:lpstr>
      <vt:lpstr>Sum of sales amount By transaction date</vt:lpstr>
      <vt:lpstr>Count of sale amount by category</vt:lpstr>
      <vt:lpstr>Sum of sale amount by state</vt:lpstr>
      <vt:lpstr>Top selling books (excluding textbooks)   </vt:lpstr>
      <vt:lpstr>My recommendation for the next quarter</vt:lpstr>
      <vt:lpstr>Power BI Service Report</vt:lpstr>
      <vt:lpstr>Github repository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lily wells</dc:creator>
  <cp:lastModifiedBy>lily wells</cp:lastModifiedBy>
  <cp:revision>27</cp:revision>
  <dcterms:created xsi:type="dcterms:W3CDTF">2026-06-24T16:48:41Z</dcterms:created>
  <dcterms:modified xsi:type="dcterms:W3CDTF">2026-06-26T11:09:21Z</dcterms:modified>
</cp:coreProperties>
</file>